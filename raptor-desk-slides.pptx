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2E8F0"/>
                </a:solidFill>
                <a:latin typeface="Arial"/>
              </a:rPr>
              <a:t>200 simulated events with a known truth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Spearman ρ with the truth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 mean</c:v>
                  </c:pt>
                  <c:pt idx="1">
                    <c:v>Shrunken z</c:v>
                  </c:pt>
                  <c:pt idx="2">
                    <c:v>Additive model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0.697</c:v>
                </c:pt>
                <c:pt idx="1">
                  <c:v>0.778</c:v>
                </c:pt>
                <c:pt idx="2">
                  <c:v>0.813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Top-5 recall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 mean</c:v>
                  </c:pt>
                  <c:pt idx="1">
                    <c:v>Shrunken z</c:v>
                  </c:pt>
                  <c:pt idx="2">
                    <c:v>Additive model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0.502</c:v>
                </c:pt>
                <c:pt idx="1">
                  <c:v>0.562</c:v>
                </c:pt>
                <c:pt idx="2">
                  <c:v>0.604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2E8F0"/>
                </a:solidFill>
                <a:latin typeface="Arial"/>
              </a:rPr>
              <a:t>Stated chance vs. what happened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Stated P(top 5)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0–5%</c:v>
                  </c:pt>
                  <c:pt idx="1">
                    <c:v>5–20%</c:v>
                  </c:pt>
                  <c:pt idx="2">
                    <c:v>20–50%</c:v>
                  </c:pt>
                  <c:pt idx="3">
                    <c:v>50–80%</c:v>
                  </c:pt>
                  <c:pt idx="4">
                    <c:v>80–95%</c:v>
                  </c:pt>
                  <c:pt idx="5">
                    <c:v>95–100%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0.11</c:v>
                </c:pt>
                <c:pt idx="2">
                  <c:v>0.32</c:v>
                </c:pt>
                <c:pt idx="3">
                  <c:v>0.64</c:v>
                </c:pt>
                <c:pt idx="4">
                  <c:v>0.89</c:v>
                </c:pt>
                <c:pt idx="5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Really in the top 5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0–5%</c:v>
                  </c:pt>
                  <c:pt idx="1">
                    <c:v>5–20%</c:v>
                  </c:pt>
                  <c:pt idx="2">
                    <c:v>20–50%</c:v>
                  </c:pt>
                  <c:pt idx="3">
                    <c:v>50–80%</c:v>
                  </c:pt>
                  <c:pt idx="4">
                    <c:v>80–95%</c:v>
                  </c:pt>
                  <c:pt idx="5">
                    <c:v>95–100%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0.03</c:v>
                </c:pt>
                <c:pt idx="1">
                  <c:v>0.15</c:v>
                </c:pt>
                <c:pt idx="2">
                  <c:v>0.26</c:v>
                </c:pt>
                <c:pt idx="3">
                  <c:v>0.5</c:v>
                </c:pt>
                <c:pt idx="4">
                  <c:v>0.71</c:v>
                </c:pt>
                <c:pt idx="5">
                  <c:v>0.8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Raptor Desk: a self-hosted hackathon portal for submissions, fair judging and a public vote, built for DOGFOOD 2026. The one idea: take a ranking all the way from uncertainty to a signed decision anyone can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agenda: each card links to its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averages tie for first place. prj_10 is third only because it drew a lenient judge. Leniency differences dwarf the gaps between projects. The textbook z-score breaks on the fixtures.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 with a bias-corrected model. Doubt: bootstrap chances, close calls, kingmaker check. Ask: propose the right extra reviews within a budget. Deliberate: humans decide close calls with written reasons. Freeze and sign. Publish with a method card and an offline verifier.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criteria with their weights. Each card says what we claim and how an evaluator checks it in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App: Django 5.2 LTS with django-ninja for the REST API and HTMX pages. Worker: an outbox for email and webhooks. Mailpit catches email locally. SQLite in WAL mode on a volume. The scoring engine is a pure Python package; an import contract stops it depending on the web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Password or magic-link email sign-in. One-click demo accounts for evaluators. The home page opens on the latest real published ranking with its chances and signature.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DOGFOOD 2026 itself is preloaded: its prizes, its rubric with the T1 gate and 40/25/20/15 weights. Teams form with invite links. Resubmitting creates version 2 of the same project; submitted versions are frozen.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gallery is public, searchable and filterable by track. Project pages show answers to the submission questions. Comments are moderated: organizers hide, never silently delete.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feedback report shows where the team placed, corrected scores per criterion against the event average, and written feedback. Judges stay anonymous. 'Something factually wrong?' sends a query that appears on the organizer's Queries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phases: draft, registration, submissions, eligibility, judging, deliberation, published, archived. Moving phase runs preflight checks; publishing is blocked while prize close calls are undecided or the snapshot is stale. Phase history is append-only.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DOGFOOD rubric as a template: the T1 gate, weights 40/25/20/15, and bonus criteria that only break exact ties. Templates for three other Raptors events are included. Tracks, prizes and custom submission questions per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are granted per event. The assignment plan covers every track, caps each judge's load and respects conflicts. Progress per judge; the score ledger's verification status is shown at the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CSV exports at every stage, safe against spreadsheet formula injection. A whole-event bundle carries a manifest with a SHA-256; importing goes to draft so nothing becomes public by accident. The audit trail is append-only and filterable.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judge sees their queue in a random order, so no project is always reviewed first or last. Number keys score each criterion, Ctrl+Enter submits, drafts autosave, and one click recuses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compare two projects they reviewed with the arrow keys, or down for too close to call. A Bradley–Terry model (MM algorithm with a weak prior, bootstrap intervals) ranks them beside the score-based ranking, and the next pair shown is the one that decides a close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get a signed protocol of their reviews and a certificate. A judge can opt in to a public passport listing their certificates across events. Anyone can check any record at /verify, or offline with tools/verify.py, which pins the deployment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score is the project's quality plus the judge's leniency plus noise. It never divides by a judge's spread, so a flat-liner or a one-review judge cannot break it. In 200 simulated events with a known truth it beats plain averaging in 96% of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 bootstrap refits give each project a chance of finishing inside each prize cutoff. Between 20% and 80% is a close call. The desk proposes which judge should review which project and why, preferring judges who saw the neighbouring projects, within a budget. One click assigns and emails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finds what the bootstrap misses: the bootstrap resamples reviews but keeps every judge. On the fixtures, 9 of 30 judges move a top-5 place, and jdg_04 and jdg_15 each hand first place to another project on their own. It's not an accusation: it marks a prize that rests on one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checked our own uncertainty and published it. The 90% intervals contain the truth only 52% of the time: too narrow. Stated 95%+ is right about four times in five. But the chances still beat the base rate clearly, and half of the prize-line mistakes were flagged as close calls in advance. That is why chances point people at doubt and never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leniency is harsh, positive is generous. The flat-lining judge is marked 'identical scores everywhere: excluded'. Judges with fewer than three reviews are flagged, because their offset rests on little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deliberation board lists close calls on the prize places. Each decision (place above, confirm) needs a written reason and is append-only. Freeze and sign creates an Ed25519-signed snapshot. Preflight blocks publishing while close calls are undecided or the snapshot is out of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public results page shows prize places, the full ranking with chances, the decisions and their reasons, and a method card: method, evidence, parameters, snapshot hash and signing key. The score ledger is hash-chained and checked against the live database; demo_tamper 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Votes by link, email or member token; tokens are hashed with a per-voter seed, so each voter sees their own stable order. Own-team votes are refused. Single-vote or quadratic voting. Bursts from one network are held for review, never dropped; trusted venue networks and allowed email domains are set per event. Tallies stay hidden until voting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console action exists in the REST API, enforced by a parity test; OpenAPI at /api/docs, served locally under a strict CSP. Webhooks are HMAC-signed, delivered by the outbox with retries, and refused on private addresses outside the demo profile. The embeddable gallery and whole-event bundles complete the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 B cannot read Judge A's scores: 403. A participant cannot read judge scores: 403. Anonymous: 401. Every route carries a default-deny policy, and a system check refuses to boot the portal if any route lacks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doctor gives a health report. Backups are online; restore verifies checksums and schema version before replacing anything, and takes a safety backup first. JSON logs never contain URL tokens. Admin-only Prometheus metrics. A production profile creates no demo data and refuses to start while demo credentials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official checker and fixtures are pinned by SHA-256 in CI; CI reruns the checker against a fresh docker compose up and byte-compares with the committed report. The extended checker covers T3 and T4 with a positive control for every refusal. The README truth table and JUDGING.md tables are generated, and CI fails if they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differentiators. The chain from uncertainty to a verifiable published decision is ours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Normalization proof with a 200-run simulation and sensitivity analysis. Pairwise mode with Bradley–Terry. A threat model with what is not stopped. API first, enforced by a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up, open localhost:8080, and use the /tour page. Demo accounts sign in with one click. Both checkers run from the repository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auravS13/raptor-desk" TargetMode="External"/><Relationship Id="rId2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8.xml"/><Relationship Id="rId5" Type="http://schemas.openxmlformats.org/officeDocument/2006/relationships/slide" Target="slide13.xml"/><Relationship Id="rId6" Type="http://schemas.openxmlformats.org/officeDocument/2006/relationships/slide" Target="slide13.xml"/><Relationship Id="rId7" Type="http://schemas.openxmlformats.org/officeDocument/2006/relationships/slide" Target="slide18.xml"/><Relationship Id="rId8" Type="http://schemas.openxmlformats.org/officeDocument/2006/relationships/slide" Target="slide18.xml"/><Relationship Id="rId9" Type="http://schemas.openxmlformats.org/officeDocument/2006/relationships/slide" Target="slide22.xml"/><Relationship Id="rId10" Type="http://schemas.openxmlformats.org/officeDocument/2006/relationships/slide" Target="slide22.xml"/><Relationship Id="rId11" Type="http://schemas.openxmlformats.org/officeDocument/2006/relationships/slide" Target="slide28.xml"/><Relationship Id="rId12" Type="http://schemas.openxmlformats.org/officeDocument/2006/relationships/slide" Target="slide28.xml"/><Relationship Id="rId13" Type="http://schemas.openxmlformats.org/officeDocument/2006/relationships/slide" Target="slide31.xml"/><Relationship Id="rId14" Type="http://schemas.openxmlformats.org/officeDocument/2006/relationships/slide" Target="slide31.xml"/><Relationship Id="rId15" Type="http://schemas.openxmlformats.org/officeDocument/2006/relationships/slide" Target="slide34.xml"/><Relationship Id="rId16" Type="http://schemas.openxmlformats.org/officeDocument/2006/relationships/slide" Target="slide34.xml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5-1.png"/><Relationship Id="rId3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19-1.png"/><Relationship Id="rId3" Type="http://schemas.openxmlformats.org/officeDocument/2006/relationships/image" Target="../media/image-1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21-1.png"/><Relationship Id="rId3" Type="http://schemas.openxmlformats.org/officeDocument/2006/relationships/image" Target="../media/image-2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chart" Target="/ppt/charts/chart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24-1.png"/><Relationship Id="rId3" Type="http://schemas.openxmlformats.org/officeDocument/2006/relationships/image" Target="../media/image-2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2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2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3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32-1.png"/><Relationship Id="rId3" Type="http://schemas.openxmlformats.org/officeDocument/2006/relationships/image" Target="../media/image-32-2.png"/><Relationship Id="rId4" Type="http://schemas.openxmlformats.org/officeDocument/2006/relationships/image" Target="../media/image-3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33-1.png"/><Relationship Id="rId3" Type="http://schemas.openxmlformats.org/officeDocument/2006/relationships/image" Target="../media/image-33-2.png"/><Relationship Id="rId4" Type="http://schemas.openxmlformats.org/officeDocument/2006/relationships/image" Target="../media/image-3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3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image" Target="../media/image-4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hyperlink" Target="https://github.com/GauravS13/raptor-des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326880" y="3291840"/>
            <a:ext cx="4206240" cy="420624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DOGFOOD 2026 · HACKATHON RAPTORS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23444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Raptor Desk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957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DBA7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uncertainty to a signed decision.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175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Submissions, fair judging and a public vote in one self-hosted portal. It finds the prize places the data can't settle, asks the right judges, records what people decided and why, and publishes a signed result anyone can verify offline.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38912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T1–T4 verified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231136" y="43891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Official checker 7/7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288536" y="438912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Extended 32/32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8006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97316">
              <a:alpha val="15000"/>
            </a:srgbClr>
          </a:solidFill>
          <a:ln w="9525">
            <a:solidFill>
              <a:srgbClr val="F97316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4/4 bonus challenges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4800600"/>
            <a:ext cx="1065276" cy="310896"/>
          </a:xfrm>
          <a:prstGeom prst="roundRect">
            <a:avLst>
              <a:gd name="adj" fmla="val 50000"/>
            </a:avLst>
          </a:prstGeom>
          <a:solidFill>
            <a:srgbClr val="818CF8">
              <a:alpha val="15000"/>
            </a:srgbClr>
          </a:solidFill>
          <a:ln w="9525">
            <a:solidFill>
              <a:srgbClr val="818CF8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369 tests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899916" y="4800600"/>
            <a:ext cx="1687068" cy="310896"/>
          </a:xfrm>
          <a:prstGeom prst="roundRect">
            <a:avLst>
              <a:gd name="adj" fmla="val 50000"/>
            </a:avLst>
          </a:prstGeom>
          <a:solidFill>
            <a:srgbClr val="818CF8">
              <a:alpha val="15000"/>
            </a:srgbClr>
          </a:solidFill>
          <a:ln w="9525">
            <a:solidFill>
              <a:srgbClr val="818CF8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docker compose up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760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Open th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github.com/GauravS13/raptor-desk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03720" y="1143000"/>
            <a:ext cx="4846320" cy="3070098"/>
          </a:xfrm>
          <a:prstGeom prst="roundRect">
            <a:avLst>
              <a:gd name="adj" fmla="val 178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7" name="Image 0" descr="01-h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1197864"/>
            <a:ext cx="4736592" cy="296037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35240" y="3429000"/>
            <a:ext cx="4206240" cy="2670048"/>
          </a:xfrm>
          <a:prstGeom prst="roundRect">
            <a:avLst>
              <a:gd name="adj" fmla="val 2055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1" descr="16-resul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104" y="3483864"/>
            <a:ext cx="4096512" cy="2560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618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any section to jump to it. Every slide has an Agenda button to come back.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0391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965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Go to Why and ho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and how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with judging, the approach, the scorecard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219456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action="ppaction://hlinksldjump" tooltip="Go to Why and ho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3  ›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203911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1965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action="ppaction://hlinksldjump" tooltip="Go to Participa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Participants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in, teams, versioned submissions, feedback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0" y="219456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action="ppaction://hlinksldjump" tooltip="Go to Participa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8  ›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97180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1363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0632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5" action="ppaction://hlinksldjump" tooltip="Go to Organiz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Organizers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Lifecycle, rubric, people, assignment, exports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32918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6" action="ppaction://hlinksldjump" tooltip="Go to Organiz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13  ›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297180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55080" y="313639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30632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7" action="ppaction://hlinksldjump" tooltip="Go to Judg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Judges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Keyboard console, pairwise mode, passport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0" y="32918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8" action="ppaction://hlinksldjump" tooltip="Go to Judg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18  ›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40690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2336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1508760" y="4160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9" action="ppaction://hlinksldjump" tooltip="Go to The fairness engin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fairness engine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 correction, doubt, kingmakers, calibration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892040" y="43891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0" action="ppaction://hlinksldjump" tooltip="Go to The fairness engin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22  ›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172200" y="40690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55080" y="42336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41605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1" action="ppaction://hlinksldjump" tooltip="Go to Decide and publis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Decide and publish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Deliberation, signed snapshots, method card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0" y="43891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2" action="ppaction://hlinksldjump" tooltip="Go to Decide and publis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28  ›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516636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31520" y="53309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1508760" y="5257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3" action="ppaction://hlinksldjump" tooltip="Go to Vote and integra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Vote and integrations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vote, webhooks, embed, API first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892040" y="548640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4" action="ppaction://hlinksldjump" tooltip="Go to Vote and integra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31  ›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72200" y="516636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355080" y="533095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3F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7132320" y="5257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5" action="ppaction://hlinksldjump" tooltip="Go to Security, ops and proo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Security, ops and proof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Isolation, operations, checkers, what is unique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10515600" y="548640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6" action="ppaction://hlinksldjump" tooltip="Go to Security, ops and proof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34  ›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and how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hackathon ranking decides prize money. It should show its math, admit its doubt, and be checkable by anyone.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problem, in the official fixtures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874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approach: one chain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2331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DOGFOOD scorecard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788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WHY AND HOW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problem: judge luck decides prizes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numbers are from the official DOGFOOD fixtures: 40 projects, 30 judges, 123 reviews.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13969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4.333 = 4.333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980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raw average ties for first place: prj_11 and prj_34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01568" y="20116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84448" y="213969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3F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3rd → 7th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3584448" y="27980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prj_10 was third only because it drew a generous judge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54496" y="201168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37376" y="213969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−0.82 … +0.52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6437376" y="279806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 leniency range, against gaps of 0.02–0.10 between neighbouring projects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107424" y="2011680"/>
            <a:ext cx="2532888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90304" y="2139696"/>
            <a:ext cx="2167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 × NaN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9290304" y="2798064"/>
            <a:ext cx="2167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Projects the textbook z-score cannot rank (flat-lining and one-review judges)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703320"/>
            <a:ext cx="11091672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Traps in the fixtures, all named at boot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2976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flat-lining judge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(jdg_07) gives identical scores everywhere: detected and excluded from the fit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project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prj_41 is prj_07 resubmitted: merged, never double-counted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teams called “StillTrail”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each keeps its id and gets a unique display name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and missing reviews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49 of 123 reviews have no written comment: reported before teams see scores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WHY AND HOW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approach: one chain, from doubt to a verifiable decision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portals stop at a ranking. Raptor Desk carries it to a decision anyone can check.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350008"/>
            <a:ext cx="457200" cy="4572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926080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355848"/>
            <a:ext cx="1380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Bias-corrected scores: quality + judge leniency + noise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231136" y="30632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423160" y="214884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06040" y="2350008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6060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606040" y="2926080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Doubt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2606040" y="3355848"/>
            <a:ext cx="1380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P(top k) for every prize place, close calls, kingmaker check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105656" y="30632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97680" y="214884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80560" y="2350008"/>
            <a:ext cx="457200" cy="457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48056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480560" y="2926080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4480560" y="3355848"/>
            <a:ext cx="1380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right judges for the right projects, within a budget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980176" y="30632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172200" y="214884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55080" y="2350008"/>
            <a:ext cx="457200" cy="457200"/>
          </a:xfrm>
          <a:prstGeom prst="ellipse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550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355080" y="2926080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Deliberate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355080" y="3355848"/>
            <a:ext cx="1380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Append-only decisions, each with a written reason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7854696" y="30632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046720" y="214884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229600" y="2350008"/>
            <a:ext cx="457200" cy="457200"/>
          </a:xfrm>
          <a:prstGeom prst="ellipse">
            <a:avLst/>
          </a:prstGeom>
          <a:solidFill>
            <a:srgbClr val="818CF8">
              <a:alpha val="2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2960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0" y="2926080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Freeze &amp; sign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0" y="3355848"/>
            <a:ext cx="1380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Ed25519-signed snapshot, hash-chained ledger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9729216" y="30632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9921240" y="214884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104120" y="2350008"/>
            <a:ext cx="457200" cy="45720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10412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10104120" y="2926080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Publish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10104120" y="3355848"/>
            <a:ext cx="1380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card, certificates, offline verifier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loops back to Measure: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reviews update every chance. Whatever is still close goes to people, on the record. A model never silently decides prize money.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WHY AND HOW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DOGFOOD scorecard, and how to check each claim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2763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17190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Tier completion and correctness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3591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T1–T4 claimed. Official checker 7/7 for T1–T2, extended checker 32/32 for T3–T4, with a positive control for every refusal.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182112"/>
            <a:ext cx="4983480" cy="310896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tools/run.py .dogfood.toml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62763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25%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171907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Judging integrity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235915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 enforced in the API. Bias model beats averaging in 96% of 200 simulated events. Close calls and kingmakers found. Calibration published. Signed hash chain.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3182112"/>
            <a:ext cx="4983480" cy="310896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/api/events/evt_01/kingmakers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8404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00507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20%</a:t>
            </a:r>
            <a:endParaRPr lang="en-US" sz="3600" dirty="0"/>
          </a:p>
        </p:txBody>
      </p:sp>
      <p:sp>
        <p:nvSpPr>
          <p:cNvPr id="20" name="Text 17"/>
          <p:cNvSpPr txBox="1"/>
          <p:nvPr/>
        </p:nvSpPr>
        <p:spPr>
          <a:xfrm>
            <a:off x="2057400" y="40965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Adoptability and operability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7365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up, offline, no .env. DOGFOOD 2026 preloaded. Health report, verified restore, exports, whole-event bundles.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5559552"/>
            <a:ext cx="4983480" cy="310896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doctor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172200" y="384048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4005072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15%</a:t>
            </a:r>
            <a:endParaRPr lang="en-US" sz="3600" dirty="0"/>
          </a:p>
        </p:txBody>
      </p:sp>
      <p:sp>
        <p:nvSpPr>
          <p:cNvPr id="25" name="Text 22"/>
          <p:cNvSpPr txBox="1"/>
          <p:nvPr/>
        </p:nvSpPr>
        <p:spPr>
          <a:xfrm>
            <a:off x="7680960" y="40965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Code quality and innovation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47365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369 tests, architecture contracts, UI/API parity test, 38 recorded decisions. The Measure → Doubt → Ask loop.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5559552"/>
            <a:ext cx="4983480" cy="310896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check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· WHY AND HOW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Architecture: one command, fully offline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up starts everything. No .env, no network calls, fonts and scripts vendored.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61E31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  ·  :8080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42032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Django 5.2 LTS, django-ninja REST API, HTMX pages, strict CSP. Boot: check → migrate → safety gate → seed → gunicorn.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06240" y="201168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161E3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8912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worker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2542032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Transactional outbox: email and HMAC-signed webhooks with retries. Never slows a voter or a judge.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63840" y="2011680"/>
            <a:ext cx="3776472" cy="1737360"/>
          </a:xfrm>
          <a:prstGeom prst="roundRect">
            <a:avLst>
              <a:gd name="adj" fmla="val 4211"/>
            </a:avLst>
          </a:prstGeom>
          <a:solidFill>
            <a:srgbClr val="161E31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46720" y="214884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Mailpit  ·  :8025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2542032"/>
            <a:ext cx="34107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local inbox: invites, magic links, review requests. Nothing leaves the machine.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02336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161E31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SQLite (WAL) on the data volume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553712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Append-only tables enforced by database triggers: audit log, phase history, submitted versions, decisions, snapshots, score ledger, signed documents, pairwise comparisons. `doctor` checks the triggers.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17920" y="4023360"/>
            <a:ext cx="5422392" cy="2057400"/>
          </a:xfrm>
          <a:prstGeom prst="roundRect">
            <a:avLst>
              <a:gd name="adj" fmla="val 3556"/>
            </a:avLst>
          </a:prstGeom>
          <a:solidFill>
            <a:srgbClr val="161E31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0" y="416052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scoring_engine: a pure package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4553712"/>
            <a:ext cx="50566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web framework inside, enforced by an import contract. Additive ridge model, shrunken z, bootstrap P(top k), close-call proposals, Bradley–Terry, kingmaker check, calibration.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Participants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sign-in to a feedback report, with nothing to install.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and demo accounts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874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page, teams, submissions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2331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gallery and comments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788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 report and queries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PARTICIPANTS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in, and a home page with real results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Sign in: password or magic link, and one-click demo accou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72184"/>
            <a:ext cx="5376672" cy="3360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in: password or magic link, and one-click demo accounts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Home: the latest published ranking, with chances and signat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72184"/>
            <a:ext cx="5376672" cy="33604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Home: the latest published ranking, with chances and signature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Magic links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by email, single use, hashed at rest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accounts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exist only in the demo profile; production refuses to start with them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PARTICIPANTS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Event page, teams and versioned submissions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DOGFOOD 2026 preloaded: prizes, deadlines and the published rubr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72184"/>
            <a:ext cx="5376672" cy="3360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DOGFOOD 2026 preloaded: prizes, deadlines and the published rubric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Teams: create, invite by link or email, join, lea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72184"/>
            <a:ext cx="5376672" cy="33604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Teams: create, invite by link or email, join, leave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Versioned submissions: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resubmit = version 2 of the same project; submitted versions are frozen by a trigger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Deadlines enforced by the server: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closed event refuses submissions (checked by the official checker)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PARTICIPANTS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Public gallery, project pages and moderated comments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Gallery: search, tracks and tags; public by desig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72184"/>
            <a:ext cx="5376672" cy="3360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Gallery: search, tracks and tags; public by design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Project page: submission answers, team, 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72184"/>
            <a:ext cx="5376672" cy="33604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page: submission answers, team, comments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Duplicates and name clashes resolved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(prj_41 → prj_07, three “StillTrail” teams)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 moderation: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hide with a reason, recorded in the audit trail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· PARTICIPANTS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Feedback report: scores explained, judges anonymous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publishing, each team sees its place, its chance, its criterion scores against the event, and the judges' written feedback.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0" y="1417320"/>
            <a:ext cx="6172200" cy="3898773"/>
          </a:xfrm>
          <a:prstGeom prst="roundRect">
            <a:avLst>
              <a:gd name="adj" fmla="val 140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09-feedb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1472184"/>
            <a:ext cx="6062472" cy="37890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251460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 and chance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the 90% interval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Scores by criterion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raw and corrected, against the event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Written feedback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from every reviewer, unnamed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participation record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verifiable at /verify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“Something factually wrong?”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sends a query to the organizer's Queries tab, answered on the record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Organizers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whole event from one console, with every change on the record.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 and lifecycle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874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Rubric, tracks, prizes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2331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and the judging plan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788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Audit, exports and bundles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ORGANIZERS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Console and an event lifecycle with preflight checks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Your events: create, import a bundle, open any ev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72184"/>
            <a:ext cx="5376672" cy="3360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events: create, import a bundle, open any event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Overview: lifecycle, preflight checks, phase 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72184"/>
            <a:ext cx="5376672" cy="33604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Overview: lifecycle, preflight checks, phase history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71500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818CF8">
              <a:alpha val="15000"/>
            </a:srgbClr>
          </a:solidFill>
          <a:ln w="9525">
            <a:solidFill>
              <a:srgbClr val="818CF8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draft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571500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818CF8">
              <a:alpha val="15000"/>
            </a:srgbClr>
          </a:solidFill>
          <a:ln w="9525">
            <a:solidFill>
              <a:srgbClr val="818CF8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registration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2889504" y="5715000"/>
            <a:ext cx="1220724" cy="310896"/>
          </a:xfrm>
          <a:prstGeom prst="roundRect">
            <a:avLst>
              <a:gd name="adj" fmla="val 50000"/>
            </a:avLst>
          </a:prstGeom>
          <a:solidFill>
            <a:srgbClr val="818CF8">
              <a:alpha val="15000"/>
            </a:srgbClr>
          </a:solidFill>
          <a:ln w="9525">
            <a:solidFill>
              <a:srgbClr val="818CF8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submissions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4219956" y="5715000"/>
            <a:ext cx="1220724" cy="310896"/>
          </a:xfrm>
          <a:prstGeom prst="roundRect">
            <a:avLst>
              <a:gd name="adj" fmla="val 50000"/>
            </a:avLst>
          </a:prstGeom>
          <a:solidFill>
            <a:srgbClr val="818CF8">
              <a:alpha val="15000"/>
            </a:srgbClr>
          </a:solidFill>
          <a:ln w="9525">
            <a:solidFill>
              <a:srgbClr val="818CF8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eligibility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550408" y="5715000"/>
            <a:ext cx="909828" cy="310896"/>
          </a:xfrm>
          <a:prstGeom prst="roundRect">
            <a:avLst>
              <a:gd name="adj" fmla="val 50000"/>
            </a:avLst>
          </a:prstGeom>
          <a:solidFill>
            <a:srgbClr val="818CF8">
              <a:alpha val="15000"/>
            </a:srgbClr>
          </a:solidFill>
          <a:ln w="9525">
            <a:solidFill>
              <a:srgbClr val="818CF8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judging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569964" y="571500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818CF8">
              <a:alpha val="15000"/>
            </a:srgbClr>
          </a:solidFill>
          <a:ln w="9525">
            <a:solidFill>
              <a:srgbClr val="818CF8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deliberation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7978140" y="5715000"/>
            <a:ext cx="1065276" cy="310896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published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9153144" y="5715000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818CF8">
              <a:alpha val="15000"/>
            </a:srgbClr>
          </a:solidFill>
          <a:ln w="9525">
            <a:solidFill>
              <a:srgbClr val="818CF8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archived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ORGANIZERS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Rubric, tracks, prizes and questions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Rubric: weights, scales, a gate, and tie-break-only bonus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72184"/>
            <a:ext cx="5376672" cy="3360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Rubric: weights, scales, a gate, and tie-break-only bonuses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Tracks, prizes and submission questio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72184"/>
            <a:ext cx="5376672" cy="33604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Tracks, prizes and submission questions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project below the gate is listed but never ranked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criteria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never change a score; they only break exact ties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dogfood-2026 plus three other Raptors events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ORGANIZERS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People, roles and a judging plan that respects people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People: roles per event, invitations, revo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72184"/>
            <a:ext cx="5376672" cy="3360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People: roles per event, invitations, revocation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Judging: ledger check, progress, coverage, assignment, conflic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72184"/>
            <a:ext cx="5376672" cy="33604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Judging: ledger check, progress, coverage, assignment, conflicts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track coverage, load caps and declared conflicts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recusal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by a judge proposes a replacement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 verified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against the live database on every visit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· ORGANIZERS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Exports at every stage, and whole-event bundles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goes in and out without lock-in: CSV for spreadsheets, bundles for archive and migration, webhooks for everything else.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0" y="1417320"/>
            <a:ext cx="6172200" cy="3898773"/>
          </a:xfrm>
          <a:prstGeom prst="roundRect">
            <a:avLst>
              <a:gd name="adj" fmla="val 140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23-expo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1472184"/>
            <a:ext cx="6062472" cy="37890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251460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exports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projects, scores, results, votes; safe against formula injection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bundle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JSON with a manifest SHA-256; import lands in draft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append-only, filterable, downloadable as CSV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Queries tab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teams' factual queries, answered on the record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Judges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Fast, keyboard-first reviewing, and records they can take with them.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 and review console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874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Pairwise mode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2331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Protocols, certificates and passport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JUDGES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keyboard-first review console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Queue: in a random order per judge, across ev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72184"/>
            <a:ext cx="5376672" cy="3360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Queue: in a random order per judge, across events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Review: number keys per criterion, Ctrl+Enter to submi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72184"/>
            <a:ext cx="5376672" cy="33604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Review: number keys per criterion, Ctrl+Enter to submit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Autosave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drafts; submitted reviews are frozen into the signed ledger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judge reads only their own scores, enforced in the API (403)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Recusal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one click, audited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JUDGES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Pairwise mode: “which is stronger?”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challenge: Pairwise Mode (hard).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0" y="1417320"/>
            <a:ext cx="6172200" cy="3898773"/>
          </a:xfrm>
          <a:prstGeom prst="roundRect">
            <a:avLst>
              <a:gd name="adj" fmla="val 140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32-pairwi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1472184"/>
            <a:ext cx="6062472" cy="37890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219456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or →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picks the stronger; ↓ is too close to call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Bradley–Terry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MM algorithm, weak prior, bootstrap intervals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Pairs that decide close calls come first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Beside the scores, never instead: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disagreement surfaces in deliberation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Append-only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comparisons, in the hash-chained ledger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· JUDGES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Signed protocols, certificates and a judge passport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Passport: opt-in, cross-event, signed certifica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72184"/>
            <a:ext cx="5376672" cy="3360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Passport: opt-in, cross-event, signed certificates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Verify: paste a code or a signed JSON docu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72184"/>
            <a:ext cx="5376672" cy="33604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Verify: paste a code or a signed JSON document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Ed25519 signatures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canonical JSON; the deployment key is pinned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tools/verify.py: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standard-library RFC 8032, works fully offline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fairness engine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the bias, doubt the ranking, ask for the evidence that would settle it.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Normalization with proof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874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→ Doubt → Ask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2331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Kingmaker check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788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Calibration, published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3246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 diagnostics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THE FAIRNESS ENGINE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Normalization you can defend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s(jp) = q(p) + b(j) + ε, fitted by ridge-regularised alternating least squares.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92024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6903720" y="192024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86600" y="20482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96%</a:t>
            </a:r>
            <a:endParaRPr lang="en-US" sz="3400" dirty="0"/>
          </a:p>
        </p:txBody>
      </p:sp>
      <p:sp>
        <p:nvSpPr>
          <p:cNvPr id="12" name="Text 8"/>
          <p:cNvSpPr txBox="1"/>
          <p:nvPr/>
        </p:nvSpPr>
        <p:spPr>
          <a:xfrm>
            <a:off x="7086600" y="27066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runs where the additive model beats the raw average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354312" y="192024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537192" y="20482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 NaN</a:t>
            </a:r>
            <a:endParaRPr lang="en-US" sz="3400" dirty="0"/>
          </a:p>
        </p:txBody>
      </p:sp>
      <p:sp>
        <p:nvSpPr>
          <p:cNvPr id="15" name="Text 11"/>
          <p:cNvSpPr txBox="1"/>
          <p:nvPr/>
        </p:nvSpPr>
        <p:spPr>
          <a:xfrm>
            <a:off x="9537192" y="27066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any input: one review, identical scores, an empty event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6903720" y="356616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Leniency b(j)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estimated, not assumed: positive is generous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Flat-liners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carry no signal and are left out of the fit, and reported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Sensitivity: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top four are stable across every λ and k tested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Reproducible: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JUDGING.md tables are generated and checked in CI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THE FAIRNESS ENGINE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Measure → Doubt → Ask, on the organizer's results page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486400" cy="3470148"/>
          </a:xfrm>
          <a:prstGeom prst="roundRect">
            <a:avLst>
              <a:gd name="adj" fmla="val 158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Results: corrected scores, intervals and P(top k) met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72184"/>
            <a:ext cx="5376672" cy="3360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49423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Results: corrected scores, intervals and P(top k) meters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1417320"/>
            <a:ext cx="5486400" cy="3552292"/>
          </a:xfrm>
          <a:prstGeom prst="roundRect">
            <a:avLst>
              <a:gd name="adj" fmla="val 1544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Close calls: proposed judges, reasons and a budg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472184"/>
            <a:ext cx="5376672" cy="34425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72200" y="50244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calls: proposed judges, reasons and a budget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call =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20–80% chance of a prize place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these judges: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click assigns and emails them; chances update as reviews arrive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demo_loop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shows a whole round with synthetic reviews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THE FAIRNESS ENGINE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Kingmaker check: does one judge decide a prize?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ranking is refitted without each judge in turn. A judge whose removal alone changes the top 5, or first place, is listed.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874520"/>
            <a:ext cx="6949440" cy="2661954"/>
          </a:xfrm>
          <a:prstGeom prst="roundRect">
            <a:avLst>
              <a:gd name="adj" fmla="val 206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On the results page, and at GET /api/events/{id}/kingmak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929384"/>
            <a:ext cx="6839712" cy="255222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459133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results page, and at GET /api/events/{id}/kingmakers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772400" y="1874520"/>
            <a:ext cx="3867912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955280" y="2002536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 of 30</a:t>
            </a:r>
            <a:endParaRPr lang="en-US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7955280" y="26609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judges alone move a top-5 place on the official fixtures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0" y="3474720"/>
            <a:ext cx="3867912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955280" y="3602736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3F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judges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7955280" y="4261104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jdg_04 and jdg_15 each decide first place on their own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Stricter than the bootstrap,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which resamples reviews but keeps every judge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an accusation: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it marks a prize resting on one opinion; ask for reviews or decide in deliberation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THE FAIRNESS ENGINE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Calibration, published whatever it says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stated chances match what really happens? 200 simulated events, the production bootstrap (300 resamples), 7,973 projects.</a:t>
            </a:r>
            <a:endParaRPr lang="en-US" sz="13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965960"/>
          <a:ext cx="64008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7269480" y="19659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52360" y="20939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3F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52%</a:t>
            </a:r>
            <a:endParaRPr lang="en-US" sz="34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7523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“90% intervals” contain the truth: too narrow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9537192" y="1965960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720072" y="209397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0.073</a:t>
            </a:r>
            <a:endParaRPr lang="en-US" sz="3400" dirty="0"/>
          </a:p>
        </p:txBody>
      </p:sp>
      <p:sp>
        <p:nvSpPr>
          <p:cNvPr id="15" name="Text 11"/>
          <p:cNvSpPr txBox="1"/>
          <p:nvPr/>
        </p:nvSpPr>
        <p:spPr>
          <a:xfrm>
            <a:off x="9720072" y="275234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Brier score, against 0.109 for the base rate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269480" y="3520440"/>
            <a:ext cx="4370832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452360" y="3648456"/>
            <a:ext cx="4005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50% flagged</a:t>
            </a:r>
            <a:endParaRPr lang="en-US" sz="2500" dirty="0"/>
          </a:p>
        </p:txBody>
      </p:sp>
      <p:sp>
        <p:nvSpPr>
          <p:cNvPr id="18" name="Text 14"/>
          <p:cNvSpPr txBox="1"/>
          <p:nvPr/>
        </p:nvSpPr>
        <p:spPr>
          <a:xfrm>
            <a:off x="7452360" y="4306824"/>
            <a:ext cx="4005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projects ranked on the wrong side of the prize line were close calls beforehand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269480" y="5074920"/>
            <a:ext cx="4370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chances point people at the doubt; they never decide. The fix (a residual bootstrap) is known and waits for its own calibration run.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· THE FAIRNESS ENGINE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Judge diagnostics: leniency, spread and misfit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judge's estimated offset, how much they spread their scores, and how far they sit from consensus after the offset.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0" y="1417320"/>
            <a:ext cx="6172200" cy="3898773"/>
          </a:xfrm>
          <a:prstGeom prst="roundRect">
            <a:avLst>
              <a:gd name="adj" fmla="val 140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20-judge-dia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1472184"/>
            <a:ext cx="6062472" cy="37890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251460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Leniency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from −0.82 (harsh) to +0.52 (generous) on the fixtures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Flat-liner excluded: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jdg_07 gives identical scores on every criterion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than 3 reviews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flagged: their offset rests on little evidence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switch: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additive, shrunken z or raw; disagreement is flagged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Decide and publish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decide the close calls, on the record. The result is frozen, signed and explained.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Deliberation board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874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Freeze and sign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2331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Published results and method card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788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Tamper-evident ledger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DECIDE AND PUBLISH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Deliberation: decisions with written reasons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Append-only decisions, bonus tie-break notes and a line under the prize places. Publishing is blocked while a prize close call is undecided.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0" y="1417320"/>
            <a:ext cx="6172200" cy="3898773"/>
          </a:xfrm>
          <a:prstGeom prst="roundRect">
            <a:avLst>
              <a:gd name="adj" fmla="val 140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21-deliber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264" y="1472184"/>
            <a:ext cx="6062472" cy="37890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27432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decision needs a reason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is stored append-only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Prize line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drawn under the prize places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Freeze and sign: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 Ed25519-signed results snapshot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Preflight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blocks publishing if a close call is undecided or the snapshot is stale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· DECIDE AND PUBLISH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Published results, method card, tamper-evident ledger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5669280" cy="3584448"/>
          </a:xfrm>
          <a:prstGeom prst="roundRect">
            <a:avLst>
              <a:gd name="adj" fmla="val 153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Public results: winners, full ranking, decisions, method c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72184"/>
            <a:ext cx="5559552" cy="3474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50566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results: winners, full ranking, decisions, method card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demo_tamper: a raw SQL edit is caught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1828800"/>
            <a:ext cx="5148072" cy="2148840"/>
          </a:xfrm>
          <a:prstGeom prst="roundRect">
            <a:avLst>
              <a:gd name="adj" fmla="val 2553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exec app python src/manage.py demo_tamper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before:   valid, 126 entries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tampered: review rev_01m3…qap5v3 (jdg_18 on prj_39),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functionality 3 -&gt; 5, by a direct SQL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after:    INVALID at entry 119: the scores of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rev_01m3…qap5v3 were changed outside the portal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restored: valid, 126 entries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4206240"/>
            <a:ext cx="51480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card: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method, evidence, parameters, snapshot hash, signing key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Hash-chained, signed ledger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every submitted score, checked against the live data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check: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tools/verify.py rejects a tampered copy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Vote and integrations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community vote that is hard to stuff, and data that flows out safely.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vote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874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Anti-abuse controls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2331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Webhooks, embed, bundles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788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first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· VOTE AND INTEGRATIONS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community vote that is hard to stuff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57600" cy="2327148"/>
          </a:xfrm>
          <a:prstGeom prst="roundRect">
            <a:avLst>
              <a:gd name="adj" fmla="val 235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Ballot: each voter's own stable or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72184"/>
            <a:ext cx="3547872" cy="2217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37993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Ballot: each voter's own stable order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70248" y="1417320"/>
            <a:ext cx="3657600" cy="2327148"/>
          </a:xfrm>
          <a:prstGeom prst="roundRect">
            <a:avLst>
              <a:gd name="adj" fmla="val 235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Organizer: mint tokens, tally, held vo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472184"/>
            <a:ext cx="3547872" cy="22174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70248" y="37993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Organizer: mint tokens, tally, held votes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991856" y="1417320"/>
            <a:ext cx="3657600" cy="2327148"/>
          </a:xfrm>
          <a:prstGeom prst="roundRect">
            <a:avLst>
              <a:gd name="adj" fmla="val 235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2" descr="Settings: windows, schemes, networ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72184"/>
            <a:ext cx="3547872" cy="22174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991856" y="37993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Settings: windows, schemes, networks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47091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Link, email or member tokens,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hashed at rest, each with its own ballot shuffle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Own-team votes refused;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single-vote or quadratic scheme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Burst quarantine: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per-event threshold; held votes are reviewed, never dropped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47091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Trusted venue networks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(CIDR): a room on one Wi-Fi is not ballot stuffing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Email-domain allowlist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email voting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Refusals audited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after the transaction, so they are never lost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· VOTE AND INTEGRATIONS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Integrations and API first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17320"/>
            <a:ext cx="3657600" cy="2327148"/>
          </a:xfrm>
          <a:prstGeom prst="roundRect">
            <a:avLst>
              <a:gd name="adj" fmla="val 235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0" descr="OpenAPI at /api/doc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472184"/>
            <a:ext cx="3547872" cy="22174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37993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at /api/docs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270248" y="1417320"/>
            <a:ext cx="3657600" cy="2327148"/>
          </a:xfrm>
          <a:prstGeom prst="roundRect">
            <a:avLst>
              <a:gd name="adj" fmla="val 235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1" descr="Embed code, bundles, webhoo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472184"/>
            <a:ext cx="3547872" cy="22174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270248" y="37993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code, bundles, webhooks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991856" y="1417320"/>
            <a:ext cx="3657600" cy="2560985"/>
          </a:xfrm>
          <a:prstGeom prst="roundRect">
            <a:avLst>
              <a:gd name="adj" fmla="val 2142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5" name="Image 2" descr="The embeddable galle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472184"/>
            <a:ext cx="3547872" cy="245125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991856" y="403316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embeddable gallery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47091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first (bonus):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 console action is in the REST API; a test enforces it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Bearer tokens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hashed at rest; JSON 401/403, never a redirect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bundles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a manifest SHA-256; imports land in draft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47091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HMAC-SHA256 in X-Dogfood-Signature, via the outbox, with retries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SSRF blocked: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private and internal targets refused outside the demo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Payloads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carry ids and names, never scores, tallies or emails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43F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Security, ops and proof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Default-deny, operable for real, and every claim re-checked on every push.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03920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Isolation, with curl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8745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2331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and quality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788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in Raptor Desk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3246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challenges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· SECURITY, OPS AND PROOF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Isolation, enforced in the API, not the frontend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rules disqualify “role checks only in the frontend”. Three curl calls against the running portal: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11091672" cy="2240280"/>
          </a:xfrm>
          <a:prstGeom prst="roundRect">
            <a:avLst>
              <a:gd name="adj" fmla="val 2449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localhost:8080/api/judges/jdg_26/scores -H "Authorization: Bearer rd_seed_jdg24_44de"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{"error": {"code": "forbidden", "message": "Judges can only read their own scores."}}  → 403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localhost:8080/api/judge/scores -H "Authorization: Bearer rd_seed_prt_priya1_2e88"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{"error": {"code": "forbidden", "message": "You do not have access to this resource."}}  → 403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curl localhost:8080/api/judge/scores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{"error": {"code": "unauthorized", "message": "Authentication required."}}  → 401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34340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4498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Default-deny @policy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every page and API operation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64992" y="434340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47872" y="4498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3F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Refuses to boot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47872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any route lacks a policy (raptor.E001)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81344" y="434340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64224" y="4498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Access matrix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64224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from real responses for 8 identities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997696" y="434340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80576" y="4498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Threat model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80576" y="4983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 ranked list of what is not stopped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· SECURITY, OPS AND PROOF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to run for real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that tell you what to fix, and refuse to do the dangerous thing.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manage.py doctor: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health report that says what to fix, including the append-only triggers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backups;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restore verifies checksums and schema version first, and takes a safety backup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logs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by route pattern; URL tokens redacted from every line, enforced by a test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Prometheus metrics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admins only, read from the database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safety gate: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refuses to start while demo tokens or demo passwords exist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3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DOGFOOD 2026 preloaded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from its own template: the T1 gate, 40/25/20/15 weights, tie-break bonuses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295829" y="1188720"/>
            <a:ext cx="4199262" cy="2935224"/>
          </a:xfrm>
          <a:prstGeom prst="roundRect">
            <a:avLst>
              <a:gd name="adj" fmla="val 186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0" descr="/metrics: admin-only Promethe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693" y="1243584"/>
            <a:ext cx="4089534" cy="28254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41788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/metrics: admin-only Prometheus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4754880"/>
            <a:ext cx="4526280" cy="150876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raptor-desk: checking configuration (every route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must declare an access policy)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raptor-desk: applying database migrations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raptor-desk: safety gate (production never starts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with demo credentials)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raptor-desk: seeding (demo profile loads the fixtures)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raptor-desk: serving on http://localhost:8080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· SECURITY, OPS AND PROOF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Proof, not claims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boots Docker and runs both checkers on every push. The README cannot overclaim.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5394960" cy="3749040"/>
          </a:xfrm>
          <a:prstGeom prst="roundRect">
            <a:avLst>
              <a:gd name="adj" fmla="val 1463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DOGFOOD 2026 acceptance report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portal: http://localhost:8080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claimed: T1 T2 T3 T4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 gallery is public .................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 project from fixtures shown .......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 closed event refuses submissions ..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 judge sees own scores .............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 judge cannot see peer scores ......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 participant blocked ...............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 csv export works .................. PASS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claimed T1 T2 T3 T4, verified T1 T2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669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official checker, unmodified. T3–T4: our extended checker, 32/32, verified T3 T4.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82880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95681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7/7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6151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checker, byte-identical in CI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74152" y="1828800"/>
            <a:ext cx="1737360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57032" y="195681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32/32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8257032" y="261518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extended checker, T3 and T4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930384" y="1828800"/>
            <a:ext cx="1709928" cy="1417320"/>
          </a:xfrm>
          <a:prstGeom prst="roundRect">
            <a:avLst>
              <a:gd name="adj" fmla="val 5161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113264" y="1956816"/>
            <a:ext cx="1344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369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10113264" y="2615184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on every commit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3474720"/>
            <a:ext cx="54223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pinned: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run.py and fixtures.json are byte-for-byte the published files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Positive controls: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 “refused” check has a matching “allowed” check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engine cannot import the web framework; UI/API parity test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docs: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truth table and JUDGING.md tables fail CI if they drift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decisions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recorded with the alternatives rejected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· SECURITY, OPS AND PROOF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in Raptor Desk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things we found in no other entry, from a survey of the strongest DOGFOOD repositories.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190195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Deliberation board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with written reasons; publishing blocked while undecided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44768" y="182880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81928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876288" y="190195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method card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method, evidence, parameters, snapshot hash, signing key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715768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825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2788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 passport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opt-in, cross-event, signed certificates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44768" y="2715768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81928" y="2825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876288" y="27889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Refuses to boot unguarded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route without an access policy stops start-up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3602736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367588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 vs. live database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 tamper demo that proves it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44768" y="3602736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81928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876288" y="367588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 and verified restore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checksums and schema checked before replacing anything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4489704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4599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456285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URL token in any log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 test covering every token route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144768" y="4489704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81928" y="4599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876288" y="456285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Pairwise aimed at close calls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pairs that decide a prize come first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" y="5376672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1280160" y="544982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Trusted venue networks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Wi-Fi room is not ballot stuffing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144768" y="5376672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81928" y="5486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6876288" y="544982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README that cannot overclaim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from both checker reports; CI fails on drift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· SECURITY, OPS AND PROOF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Bonus challenges: 4 of 4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444752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Normalization Proof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17830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97316">
              <a:alpha val="15000"/>
            </a:srgbClr>
          </a:solidFill>
          <a:ln w="9525">
            <a:solidFill>
              <a:srgbClr val="F97316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hard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3774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JUDGING.md: method, fixture results, 200-run simulation against a known truth, sensitivity analysis, calibration. Generated and checked in CI.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7068312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Pairwise Mode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0378440" y="178308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hard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3774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or B with ← → ↓. Bradley–Terry (MM, prior, bootstrap) beside the scores; pairs that decide close calls come first.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88620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444752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Threat Model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42062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43F5E">
              <a:alpha val="15000"/>
            </a:srgbClr>
          </a:solidFill>
          <a:ln w="9525">
            <a:solidFill>
              <a:srgbClr val="F43F5E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medium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80060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THREAT-MODEL.md: Sybil votes, ballot stuffing, collusion, tampering, SSRF, token leaks, with a ranked list of what is not stopped.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72200" y="388620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161E31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rgbClr val="10B981">
              <a:alpha val="18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068312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First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10378440" y="42062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818CF8">
              <a:alpha val="15000"/>
            </a:srgbClr>
          </a:solidFill>
          <a:ln w="9525">
            <a:solidFill>
              <a:srgbClr val="818CF8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18C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medium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480060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console action in the REST API, enforced by a parity test. OpenAPI at /api/docs and /api/openapi.json.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9731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· SECURITY, OPS AND PROOF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Evaluate it in five minutes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618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command, then the /tour page walks each scoring criterion with a click.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03120"/>
            <a:ext cx="4754880" cy="1737360"/>
          </a:xfrm>
          <a:prstGeom prst="roundRect">
            <a:avLst>
              <a:gd name="adj" fmla="val 315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txBody>
          <a:bodyPr wrap="square" lIns="127000" tIns="152400" rIns="152400" bIns="1270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http://localhost:8080  →  /tour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tools/run.py .dogfood.toml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--fixtures data/fixtures.json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tools/run_extended.py .dogfood-extended.toml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06908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Organizer: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Sample Hack 2026 → Results, Deliberation, Voting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 A: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score with the keyboard, then Compare pairs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Judge B: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try to read Judge A's scores (refused)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Participant: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form a team in DOGFOOD 2026, submit, resubmit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▸"/>
            </a:pPr>
            <a:r>
              <a:rPr lang="en-US" sz="12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Admin: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/metrics and every event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77840" y="1417320"/>
            <a:ext cx="6080760" cy="3841623"/>
          </a:xfrm>
          <a:prstGeom prst="roundRect">
            <a:avLst>
              <a:gd name="adj" fmla="val 1428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12" name="Image 0" descr="03-tou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1472184"/>
            <a:ext cx="5971032" cy="373189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91495" y="27432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161E31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action="ppaction://hlinksldjump" tooltip="Back to th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Raptor Desk · DOGFOOD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85855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-1645920" y="3108960"/>
            <a:ext cx="5943600" cy="5943600"/>
          </a:xfrm>
          <a:prstGeom prst="ellipse">
            <a:avLst/>
          </a:prstGeom>
          <a:solidFill>
            <a:srgbClr val="F97316">
              <a:alpha val="1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uncertainty to a signed decision.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DBA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→ Doubt → Ask → Deliberate → Freeze and sign → Publish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36576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44805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Open th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github.com/GauravS13/raptor-desk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108960" y="5029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DOGFOOD 2026 · Hackathon Raptors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Hackathon Raptors: DOGFOOD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Raptor Desk: DOGFOOD 2026</dc:title>
  <dc:subject>PptxGenJS Presentation</dc:subject>
  <dc:creator>Gaurav Siddhapathaki</dc:creator>
  <cp:lastModifiedBy>Gaurav Siddhapathaki</cp:lastModifiedBy>
  <cp:revision>1</cp:revision>
  <dcterms:created xsi:type="dcterms:W3CDTF">2026-09-29T16:34:16Z</dcterms:created>
  <dcterms:modified xsi:type="dcterms:W3CDTF">2026-09-29T16:34:16Z</dcterms:modified>
</cp:coreProperties>
</file>